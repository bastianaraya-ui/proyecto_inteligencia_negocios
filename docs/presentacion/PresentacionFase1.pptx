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71" r:id="rId5"/>
    <p:sldId id="263" r:id="rId6"/>
    <p:sldId id="264" r:id="rId7"/>
    <p:sldId id="267" r:id="rId8"/>
    <p:sldId id="269" r:id="rId9"/>
    <p:sldId id="270" r:id="rId10"/>
    <p:sldId id="266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62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C56D8-950A-4A83-A717-BCB88B0AE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84421C-CC8A-CE31-528F-CB2967DCD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E02513-5AD1-E4C2-A626-B72024A6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8AD70F-A983-E4D0-A5DE-295DAB21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F4358-BF0E-3161-9467-59631F54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271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76CA3-89F9-CD1A-61F4-42BDF7C5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19036-335F-426C-4FAB-B6560F24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CD0ED4-1562-6C97-04C0-20E17F9E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1DCA15-4D65-5E67-EACB-8B1F969D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A2CB4-FB11-7778-8968-D9A9676A3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7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77DC6-2E4D-FD81-7B58-6D76B4C1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748277-2141-3160-5212-8089D1725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538AF4-C331-08AD-9666-92EF06AF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DFF934-DEC5-7407-1F95-DA60D065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B2DA0F-C206-DCC9-6AF7-BAC35B6E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874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1006F-C6DA-10C0-80B6-4E9F0A11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6F4294-6D94-32EC-7CA0-931C24B8A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B0B678-0B78-62E8-6705-6B6BA31E7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87A355-0126-7FA5-C7D5-833736D9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CC6C41-9BD1-2B6C-8F21-3032362D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23824B-82A8-2E08-DC61-C9E8D8D4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850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0D170-5E54-33CE-04DD-EDF5D214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39EA6B-C023-E9C6-D7E7-2B8E1C64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589B22-486A-F1A3-8206-9099576FA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8C9B1D-D1BE-55F5-5A03-2AE6459F6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A85C3A-D47E-C276-42AD-6E4BFC3EE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1B0FB22-E8E9-3F22-8B40-013CF6E9F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0472F3-0355-2560-F266-D386CD14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81F2E1-0DBD-8A9F-201F-FE7EF850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146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B241A-93A2-9B36-AF90-006F309E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010745-3B86-EB33-0CFD-1D0550BF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43D059-631C-DC31-8D1F-4B18A95B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1C3C7A-BF0E-34DC-32F0-2A5FA2B3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786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DF7705-D359-A630-6E2D-B6C6191D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344883-4DC2-1F59-A531-797AA872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198220-CDF7-67C9-4A8A-E7D3C6EF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712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93776-ED09-325D-D287-C109E913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D421AD-E1E5-BDDC-6BB1-9A8CA2DA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F38B9A-195A-4F06-541E-4C8EAAF6A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764F81-349F-6F92-D420-BE773603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1889AE-7342-3DAE-9A99-9AB4556F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F2C7D4-EB36-BFA8-CC19-CAA0A56F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203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A74A4-183A-2F81-6D4E-B8A307EC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6D3943-54ED-E09B-FB7B-7F406522A78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540F8C-18F4-E25C-EBF2-694A36BC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50D0C4-24F8-46E9-E450-35FB14A6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CF471A-A44E-2B93-5621-66EA1E0E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8923B8-8449-C7BF-E649-8AE443EE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824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E5965-1544-9BF9-5F17-79D77089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61B18F-C679-FCF1-9EC5-1333A462A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DD06A7-9702-BD77-7B11-DCBDE7EB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2F2D90-E113-F501-F117-010936FB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ADB21-8F2F-5D66-1038-E02A910F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596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EED8E9-2E5D-8B21-5DC7-41E7FD2EA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A698C1-CBEB-59B8-03C6-49F4293D2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94940-8AB7-CD85-24AA-AFB8D6DA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377887-256C-B05E-E353-C4F2A5EB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AF053C-EB7D-544D-2AD6-64E22221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833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A362D1-2EE1-C970-2488-5A37B259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F75B43-A7F2-88EB-FB68-3A5C64CD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FB868A-18B4-174B-5047-A70452D7D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CE34A-13E0-4DBE-8695-CC69F688DD5C}" type="datetimeFigureOut">
              <a:rPr lang="es-CL" smtClean="0"/>
              <a:t>15-10-2026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9C839-D5AE-365D-E30C-A0470E13B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3D5314-2F43-9352-1316-B9DB0FE6C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A9867-8CD8-4002-B43C-76BC7286ED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246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5855147-A3A0-CBD4-20C1-FB11ABCD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b="1" dirty="0">
                <a:latin typeface="Overpass"/>
              </a:rPr>
              <a:t>Del Modelo Transaccional a la claridad analítica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FC72DA0-8BC6-7900-5D11-20737ADFA1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sz="2400" b="1" dirty="0">
                <a:solidFill>
                  <a:srgbClr val="DB6227"/>
                </a:solidFill>
                <a:latin typeface="Overpass"/>
              </a:rPr>
              <a:t>Desafío de </a:t>
            </a:r>
            <a:r>
              <a:rPr lang="es-CL" sz="2400" b="1" dirty="0" err="1">
                <a:solidFill>
                  <a:srgbClr val="DB6227"/>
                </a:solidFill>
                <a:latin typeface="Overpass"/>
              </a:rPr>
              <a:t>BikeZ</a:t>
            </a:r>
            <a:endParaRPr lang="es-CL" sz="2000" dirty="0">
              <a:latin typeface="Overpass"/>
            </a:endParaRPr>
          </a:p>
          <a:p>
            <a:pPr marL="0" indent="0">
              <a:buNone/>
            </a:pPr>
            <a:r>
              <a:rPr lang="es-CL" sz="2000" dirty="0">
                <a:latin typeface="Overpass"/>
              </a:rPr>
              <a:t>Crecimiento acelerado en la venta artículos motocross 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C3E8B4-16AC-F036-3EC0-3BC86F410B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b="1" dirty="0">
                <a:latin typeface="Overpass"/>
              </a:rPr>
              <a:t>Problema Técnico </a:t>
            </a:r>
          </a:p>
          <a:p>
            <a:pPr marL="0" indent="0">
              <a:buNone/>
            </a:pPr>
            <a:r>
              <a:rPr lang="es-CL" sz="2000" dirty="0">
                <a:latin typeface="Overpass"/>
              </a:rPr>
              <a:t>Base de datos de 9 tablas normalizadas. Ineficiente para responder preguntas de negocio a gran escala</a:t>
            </a:r>
          </a:p>
        </p:txBody>
      </p:sp>
      <p:pic>
        <p:nvPicPr>
          <p:cNvPr id="10" name="Picture 2" descr="The image illustrates a complex data flow diagram contrasting a technical challenge in a motorcycle racing context with an inefficient, multi-layered database structure.">
            <a:extLst>
              <a:ext uri="{FF2B5EF4-FFF2-40B4-BE49-F238E27FC236}">
                <a16:creationId xmlns:a16="http://schemas.microsoft.com/office/drawing/2014/main" id="{F7BDE609-BBF9-8E1C-7C55-5FBA1726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0" t="41217" r="53630" b="4948"/>
          <a:stretch>
            <a:fillRect/>
          </a:stretch>
        </p:blipFill>
        <p:spPr>
          <a:xfrm>
            <a:off x="685800" y="3045317"/>
            <a:ext cx="4879258" cy="3447558"/>
          </a:xfrm>
          <a:prstGeom prst="rect">
            <a:avLst/>
          </a:prstGeom>
        </p:spPr>
      </p:pic>
      <p:pic>
        <p:nvPicPr>
          <p:cNvPr id="12" name="Imagen 11" descr="This diagram is a data model representing a database schema for a business system, including entities such as 'Almacenes', 'Empleados', 'Territorios', and 'Productos', with various attributes and relationships between them.&#10;&#10;El contenido generado por IA puede ser incorrecto.">
            <a:extLst>
              <a:ext uri="{FF2B5EF4-FFF2-40B4-BE49-F238E27FC236}">
                <a16:creationId xmlns:a16="http://schemas.microsoft.com/office/drawing/2014/main" id="{771C9C97-4699-09A3-7C22-036ECC26E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944" y="3250783"/>
            <a:ext cx="3453350" cy="335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6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23B9-5D4D-158B-94F6-9D1F7340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846E22-9B6B-F3ED-051D-D7AB857B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b="1" dirty="0">
                <a:latin typeface="Overpass"/>
              </a:rPr>
              <a:t>Inteligencia Guiada por el negocio: Objetivos Estratégicos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26B8AC5-EDE2-8B20-5CAC-51FBD152C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416277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920447-12D8-4D18-C2DA-90F048527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53368" y="1825625"/>
            <a:ext cx="1000432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723C31-D420-B036-B78D-8D7B3E7C2580}"/>
              </a:ext>
            </a:extLst>
          </p:cNvPr>
          <p:cNvSpPr/>
          <p:nvPr/>
        </p:nvSpPr>
        <p:spPr>
          <a:xfrm>
            <a:off x="747249" y="2281084"/>
            <a:ext cx="2025445" cy="4030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E7FF61-7F7C-B75B-EBDF-DC98DCD6C7FD}"/>
              </a:ext>
            </a:extLst>
          </p:cNvPr>
          <p:cNvSpPr/>
          <p:nvPr/>
        </p:nvSpPr>
        <p:spPr>
          <a:xfrm>
            <a:off x="747249" y="2281084"/>
            <a:ext cx="2025445" cy="265471"/>
          </a:xfrm>
          <a:prstGeom prst="rect">
            <a:avLst/>
          </a:prstGeom>
          <a:solidFill>
            <a:srgbClr val="DB6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BE1BAF8-8777-BEAC-9AE8-D3EAC53043A1}"/>
              </a:ext>
            </a:extLst>
          </p:cNvPr>
          <p:cNvSpPr txBox="1"/>
          <p:nvPr/>
        </p:nvSpPr>
        <p:spPr>
          <a:xfrm>
            <a:off x="787805" y="2518499"/>
            <a:ext cx="66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1" dirty="0">
                <a:solidFill>
                  <a:srgbClr val="DB6227"/>
                </a:solidFill>
                <a:latin typeface="Overpass"/>
              </a:rPr>
              <a:t>1</a:t>
            </a:r>
          </a:p>
        </p:txBody>
      </p:sp>
      <p:sp>
        <p:nvSpPr>
          <p:cNvPr id="11" name="Título 3">
            <a:extLst>
              <a:ext uri="{FF2B5EF4-FFF2-40B4-BE49-F238E27FC236}">
                <a16:creationId xmlns:a16="http://schemas.microsoft.com/office/drawing/2014/main" id="{46581C7F-BBEC-953E-4137-3A780B2ED2D6}"/>
              </a:ext>
            </a:extLst>
          </p:cNvPr>
          <p:cNvSpPr txBox="1">
            <a:spLocks/>
          </p:cNvSpPr>
          <p:nvPr/>
        </p:nvSpPr>
        <p:spPr>
          <a:xfrm>
            <a:off x="787805" y="4672345"/>
            <a:ext cx="20254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b="1" dirty="0">
                <a:latin typeface="Overpass"/>
              </a:rPr>
              <a:t>Ingresos Totales por Ventas</a:t>
            </a:r>
          </a:p>
        </p:txBody>
      </p:sp>
      <p:pic>
        <p:nvPicPr>
          <p:cNvPr id="14" name="Picture 2" descr="The image is a visual representation of a strategic guide, showcasing five key objectives for business intelligence, including income, performance, productivity, value, and totals categorized by region, product, and customer, with a Gemini Notebook illustration.&#10;&#10;El contenido generado por IA puede ser incorrecto.">
            <a:extLst>
              <a:ext uri="{FF2B5EF4-FFF2-40B4-BE49-F238E27FC236}">
                <a16:creationId xmlns:a16="http://schemas.microsoft.com/office/drawing/2014/main" id="{79357976-DF8C-DB1B-84DE-3BDAFC0BF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2" t="43722" r="80181" b="41809"/>
          <a:stretch>
            <a:fillRect/>
          </a:stretch>
        </p:blipFill>
        <p:spPr>
          <a:xfrm>
            <a:off x="1102439" y="3509297"/>
            <a:ext cx="1315064" cy="983993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CF978ECB-501A-5B42-8441-9FF53EF4DB7C}"/>
              </a:ext>
            </a:extLst>
          </p:cNvPr>
          <p:cNvSpPr/>
          <p:nvPr/>
        </p:nvSpPr>
        <p:spPr>
          <a:xfrm>
            <a:off x="2984091" y="2276172"/>
            <a:ext cx="2025445" cy="4030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EEEACB2-5809-1031-DECD-7CA70D284E30}"/>
              </a:ext>
            </a:extLst>
          </p:cNvPr>
          <p:cNvSpPr/>
          <p:nvPr/>
        </p:nvSpPr>
        <p:spPr>
          <a:xfrm>
            <a:off x="2984091" y="2276172"/>
            <a:ext cx="2025445" cy="265471"/>
          </a:xfrm>
          <a:prstGeom prst="rect">
            <a:avLst/>
          </a:prstGeom>
          <a:solidFill>
            <a:srgbClr val="DB6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7330F9E-3713-F714-D13F-7B753929ABE2}"/>
              </a:ext>
            </a:extLst>
          </p:cNvPr>
          <p:cNvSpPr txBox="1"/>
          <p:nvPr/>
        </p:nvSpPr>
        <p:spPr>
          <a:xfrm>
            <a:off x="3024647" y="2513587"/>
            <a:ext cx="66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1" dirty="0">
                <a:solidFill>
                  <a:srgbClr val="DB6227"/>
                </a:solidFill>
                <a:latin typeface="Overpass"/>
              </a:rPr>
              <a:t>2</a:t>
            </a:r>
          </a:p>
        </p:txBody>
      </p:sp>
      <p:sp>
        <p:nvSpPr>
          <p:cNvPr id="22" name="Título 3">
            <a:extLst>
              <a:ext uri="{FF2B5EF4-FFF2-40B4-BE49-F238E27FC236}">
                <a16:creationId xmlns:a16="http://schemas.microsoft.com/office/drawing/2014/main" id="{9D4C674E-0849-F947-486A-F3518F75A117}"/>
              </a:ext>
            </a:extLst>
          </p:cNvPr>
          <p:cNvSpPr txBox="1">
            <a:spLocks/>
          </p:cNvSpPr>
          <p:nvPr/>
        </p:nvSpPr>
        <p:spPr>
          <a:xfrm>
            <a:off x="3024647" y="4667433"/>
            <a:ext cx="20254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b="1" dirty="0">
                <a:latin typeface="Overpass"/>
              </a:rPr>
              <a:t>Ventas e Ingreso por producto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D23AA20-C120-F6BE-D1DD-215F6E063ACA}"/>
              </a:ext>
            </a:extLst>
          </p:cNvPr>
          <p:cNvSpPr/>
          <p:nvPr/>
        </p:nvSpPr>
        <p:spPr>
          <a:xfrm>
            <a:off x="5191434" y="2281092"/>
            <a:ext cx="2025445" cy="4030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6160928-1A0E-26BF-5697-220EA5FB5003}"/>
              </a:ext>
            </a:extLst>
          </p:cNvPr>
          <p:cNvSpPr/>
          <p:nvPr/>
        </p:nvSpPr>
        <p:spPr>
          <a:xfrm>
            <a:off x="5191434" y="2281092"/>
            <a:ext cx="2025445" cy="265471"/>
          </a:xfrm>
          <a:prstGeom prst="rect">
            <a:avLst/>
          </a:prstGeom>
          <a:solidFill>
            <a:srgbClr val="DB6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BCDA8F4-502E-4178-2685-975EDAA1CE1A}"/>
              </a:ext>
            </a:extLst>
          </p:cNvPr>
          <p:cNvSpPr txBox="1"/>
          <p:nvPr/>
        </p:nvSpPr>
        <p:spPr>
          <a:xfrm>
            <a:off x="5231990" y="2518507"/>
            <a:ext cx="66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1" dirty="0">
                <a:solidFill>
                  <a:srgbClr val="DB6227"/>
                </a:solidFill>
                <a:latin typeface="Overpass"/>
              </a:rPr>
              <a:t>3</a:t>
            </a:r>
          </a:p>
        </p:txBody>
      </p:sp>
      <p:sp>
        <p:nvSpPr>
          <p:cNvPr id="32" name="Título 3">
            <a:extLst>
              <a:ext uri="{FF2B5EF4-FFF2-40B4-BE49-F238E27FC236}">
                <a16:creationId xmlns:a16="http://schemas.microsoft.com/office/drawing/2014/main" id="{3207B3E8-7505-5023-5E84-87E95427121A}"/>
              </a:ext>
            </a:extLst>
          </p:cNvPr>
          <p:cNvSpPr txBox="1">
            <a:spLocks/>
          </p:cNvSpPr>
          <p:nvPr/>
        </p:nvSpPr>
        <p:spPr>
          <a:xfrm>
            <a:off x="5231990" y="4672353"/>
            <a:ext cx="20254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b="1" dirty="0">
                <a:latin typeface="Overpass"/>
              </a:rPr>
              <a:t>Venta e Ingreso por Territorio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4EC7E03-B522-432E-121E-C8DE5FC87CAC}"/>
              </a:ext>
            </a:extLst>
          </p:cNvPr>
          <p:cNvSpPr/>
          <p:nvPr/>
        </p:nvSpPr>
        <p:spPr>
          <a:xfrm>
            <a:off x="7413540" y="2290920"/>
            <a:ext cx="2025445" cy="4030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3DE22A1-DB4E-01FD-311A-42749703F2C5}"/>
              </a:ext>
            </a:extLst>
          </p:cNvPr>
          <p:cNvSpPr/>
          <p:nvPr/>
        </p:nvSpPr>
        <p:spPr>
          <a:xfrm>
            <a:off x="7413540" y="2290920"/>
            <a:ext cx="2025445" cy="265471"/>
          </a:xfrm>
          <a:prstGeom prst="rect">
            <a:avLst/>
          </a:prstGeom>
          <a:solidFill>
            <a:srgbClr val="DB6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3CE1824-41C9-1B1B-5ECD-9D8EACE721A9}"/>
              </a:ext>
            </a:extLst>
          </p:cNvPr>
          <p:cNvSpPr txBox="1"/>
          <p:nvPr/>
        </p:nvSpPr>
        <p:spPr>
          <a:xfrm>
            <a:off x="7454096" y="2528335"/>
            <a:ext cx="66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1" dirty="0">
                <a:solidFill>
                  <a:srgbClr val="DB6227"/>
                </a:solidFill>
                <a:latin typeface="Overpass"/>
              </a:rPr>
              <a:t>4</a:t>
            </a:r>
          </a:p>
        </p:txBody>
      </p:sp>
      <p:sp>
        <p:nvSpPr>
          <p:cNvPr id="42" name="Título 3">
            <a:extLst>
              <a:ext uri="{FF2B5EF4-FFF2-40B4-BE49-F238E27FC236}">
                <a16:creationId xmlns:a16="http://schemas.microsoft.com/office/drawing/2014/main" id="{47A49E0B-6F7C-891B-3F84-C02AF62A6341}"/>
              </a:ext>
            </a:extLst>
          </p:cNvPr>
          <p:cNvSpPr txBox="1">
            <a:spLocks/>
          </p:cNvSpPr>
          <p:nvPr/>
        </p:nvSpPr>
        <p:spPr>
          <a:xfrm>
            <a:off x="7454096" y="4682181"/>
            <a:ext cx="20254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b="1" dirty="0">
                <a:latin typeface="Overpass"/>
              </a:rPr>
              <a:t>Productividad de los empleados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7693670-187C-464A-C740-57B4A86697E0}"/>
              </a:ext>
            </a:extLst>
          </p:cNvPr>
          <p:cNvSpPr/>
          <p:nvPr/>
        </p:nvSpPr>
        <p:spPr>
          <a:xfrm>
            <a:off x="9606137" y="2281089"/>
            <a:ext cx="2025445" cy="40308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884DE46-3B70-8DE6-BFD9-3B1499288664}"/>
              </a:ext>
            </a:extLst>
          </p:cNvPr>
          <p:cNvSpPr/>
          <p:nvPr/>
        </p:nvSpPr>
        <p:spPr>
          <a:xfrm>
            <a:off x="9606137" y="2281089"/>
            <a:ext cx="2025445" cy="265471"/>
          </a:xfrm>
          <a:prstGeom prst="rect">
            <a:avLst/>
          </a:prstGeom>
          <a:solidFill>
            <a:srgbClr val="DB622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D2B60FF-59D3-9C29-7CE5-CE6FCAFE221A}"/>
              </a:ext>
            </a:extLst>
          </p:cNvPr>
          <p:cNvSpPr txBox="1"/>
          <p:nvPr/>
        </p:nvSpPr>
        <p:spPr>
          <a:xfrm>
            <a:off x="9646693" y="2518504"/>
            <a:ext cx="668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1" dirty="0">
                <a:solidFill>
                  <a:srgbClr val="DB6227"/>
                </a:solidFill>
                <a:latin typeface="Overpass"/>
              </a:rPr>
              <a:t>5</a:t>
            </a:r>
          </a:p>
        </p:txBody>
      </p:sp>
      <p:sp>
        <p:nvSpPr>
          <p:cNvPr id="52" name="Título 3">
            <a:extLst>
              <a:ext uri="{FF2B5EF4-FFF2-40B4-BE49-F238E27FC236}">
                <a16:creationId xmlns:a16="http://schemas.microsoft.com/office/drawing/2014/main" id="{50AB63D7-BE96-793D-CB75-CC37C3E7F77B}"/>
              </a:ext>
            </a:extLst>
          </p:cNvPr>
          <p:cNvSpPr txBox="1">
            <a:spLocks/>
          </p:cNvSpPr>
          <p:nvPr/>
        </p:nvSpPr>
        <p:spPr>
          <a:xfrm>
            <a:off x="9646693" y="4672350"/>
            <a:ext cx="20254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L" sz="2400" b="1" dirty="0">
                <a:latin typeface="Overpass"/>
              </a:rPr>
              <a:t>Fidelización de Clientes</a:t>
            </a:r>
          </a:p>
        </p:txBody>
      </p:sp>
      <p:pic>
        <p:nvPicPr>
          <p:cNvPr id="56" name="Picture 2" descr="The image is a visual representation of a strategic guide, showcasing five key objectives for business intelligence, including income, performance, productivity, value, and totals categorized by region, product, and customer, with a Gemini Notebook illustration.&#10;&#10;El contenido generado por IA puede ser incorrecto.">
            <a:extLst>
              <a:ext uri="{FF2B5EF4-FFF2-40B4-BE49-F238E27FC236}">
                <a16:creationId xmlns:a16="http://schemas.microsoft.com/office/drawing/2014/main" id="{A8590069-397D-8193-E1A6-FE683EBF0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76" t="43577" r="62823" b="41275"/>
          <a:stretch>
            <a:fillRect/>
          </a:stretch>
        </p:blipFill>
        <p:spPr>
          <a:xfrm>
            <a:off x="3451138" y="3472914"/>
            <a:ext cx="1231472" cy="1030212"/>
          </a:xfrm>
          <a:prstGeom prst="rect">
            <a:avLst/>
          </a:prstGeom>
        </p:spPr>
      </p:pic>
      <p:pic>
        <p:nvPicPr>
          <p:cNvPr id="58" name="Picture 2" descr="The image is a visual representation of a strategic guide, showcasing five key objectives for business intelligence, including income, performance, productivity, value, and totals categorized by region, product, and customer, with a Gemini Notebook illustration.&#10;&#10;El contenido generado por IA puede ser incorrecto.">
            <a:extLst>
              <a:ext uri="{FF2B5EF4-FFF2-40B4-BE49-F238E27FC236}">
                <a16:creationId xmlns:a16="http://schemas.microsoft.com/office/drawing/2014/main" id="{14784649-F32C-631F-2616-4B058EE79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60" t="43577" r="44919" b="40399"/>
          <a:stretch>
            <a:fillRect/>
          </a:stretch>
        </p:blipFill>
        <p:spPr>
          <a:xfrm>
            <a:off x="5525149" y="3509297"/>
            <a:ext cx="1246217" cy="1089760"/>
          </a:xfrm>
          <a:prstGeom prst="rect">
            <a:avLst/>
          </a:prstGeom>
        </p:spPr>
      </p:pic>
      <p:pic>
        <p:nvPicPr>
          <p:cNvPr id="60" name="Picture 2" descr="The image is a visual representation of a strategic guide, showcasing five key objectives for business intelligence, including income, performance, productivity, value, and totals categorized by region, product, and customer, with a Gemini Notebook illustration.&#10;&#10;El contenido generado por IA puede ser incorrecto.">
            <a:extLst>
              <a:ext uri="{FF2B5EF4-FFF2-40B4-BE49-F238E27FC236}">
                <a16:creationId xmlns:a16="http://schemas.microsoft.com/office/drawing/2014/main" id="{733732B0-E934-F8EF-1A69-63CEDF54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409" t="43577" r="25877" b="40399"/>
          <a:stretch>
            <a:fillRect/>
          </a:stretch>
        </p:blipFill>
        <p:spPr>
          <a:xfrm>
            <a:off x="7697432" y="3443140"/>
            <a:ext cx="1428152" cy="1089760"/>
          </a:xfrm>
          <a:prstGeom prst="rect">
            <a:avLst/>
          </a:prstGeom>
        </p:spPr>
      </p:pic>
      <p:pic>
        <p:nvPicPr>
          <p:cNvPr id="62" name="Picture 2" descr="The image is a visual representation of a strategic guide, showcasing five key objectives for business intelligence, including income, performance, productivity, value, and totals categorized by region, product, and customer, with a Gemini Notebook illustration.&#10;&#10;El contenido generado por IA puede ser incorrecto.">
            <a:extLst>
              <a:ext uri="{FF2B5EF4-FFF2-40B4-BE49-F238E27FC236}">
                <a16:creationId xmlns:a16="http://schemas.microsoft.com/office/drawing/2014/main" id="{3A5DD967-C14C-D62D-F2C7-693ECB2A1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967" t="43577" r="9043" b="40399"/>
          <a:stretch>
            <a:fillRect/>
          </a:stretch>
        </p:blipFill>
        <p:spPr>
          <a:xfrm>
            <a:off x="9980989" y="3429000"/>
            <a:ext cx="1217976" cy="10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4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0891D9-38BE-8302-0B67-4306DFAB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Proceso de Negocio y Enfoque de Granularidad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6FDFE2E-E285-9D59-E85C-15350100D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9" name="Imagen 8" descr="The image depicts a transaction process for motorcycle gear, showing a receipt number, date, items, prices, and total cost.">
            <a:extLst>
              <a:ext uri="{FF2B5EF4-FFF2-40B4-BE49-F238E27FC236}">
                <a16:creationId xmlns:a16="http://schemas.microsoft.com/office/drawing/2014/main" id="{8DF93DD9-F09A-8C3A-E129-6545B0EDA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87" y="1936495"/>
            <a:ext cx="9898626" cy="412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0CEED-2C2C-BEF9-BD46-0882D79C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75FAD-84B3-71D1-0E9D-DCD73FEA4A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644780-C7AE-B9F0-FDBA-06018B4EEB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6" name="Imagen 5" descr="This diagram is a data model representing a database schema for a business system, including entities such as 'Almacenes', 'Empleados', 'Territorios', and 'Productos', with various attributes and relationships between them.&#10;&#10;El contenido generado por IA puede ser incorrecto.">
            <a:extLst>
              <a:ext uri="{FF2B5EF4-FFF2-40B4-BE49-F238E27FC236}">
                <a16:creationId xmlns:a16="http://schemas.microsoft.com/office/drawing/2014/main" id="{673EC76B-E0ED-DC27-3F86-86747A7BE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38" y="365125"/>
            <a:ext cx="6553323" cy="63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8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BCC7-1D79-843D-C827-42100C20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951346-52FB-510E-1255-6F5281EC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Modelo Dimensional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06FE70-980A-788B-4CEA-25274EF4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3" name="Imagen 2" descr="The image depicts a complex data model with various entities like Territory, Sales, Employees, and Customers, showing relationships and attributes such as names, codes, and numerical values.&#10;&#10;El contenido generado por IA puede ser incorrecto.">
            <a:extLst>
              <a:ext uri="{FF2B5EF4-FFF2-40B4-BE49-F238E27FC236}">
                <a16:creationId xmlns:a16="http://schemas.microsoft.com/office/drawing/2014/main" id="{28769752-3A3A-7DD7-546E-7526C8482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41" y="1690688"/>
            <a:ext cx="8013009" cy="472898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80F5533-2D8D-DDCD-D3D2-AED9381C8006}"/>
              </a:ext>
            </a:extLst>
          </p:cNvPr>
          <p:cNvSpPr/>
          <p:nvPr/>
        </p:nvSpPr>
        <p:spPr>
          <a:xfrm>
            <a:off x="6475445" y="1469215"/>
            <a:ext cx="2155371" cy="536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Se consolida Territorios y Países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218130F-B1DF-E265-E09B-78AC524B8E6D}"/>
              </a:ext>
            </a:extLst>
          </p:cNvPr>
          <p:cNvSpPr/>
          <p:nvPr/>
        </p:nvSpPr>
        <p:spPr>
          <a:xfrm>
            <a:off x="7389069" y="5956008"/>
            <a:ext cx="2790629" cy="536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Se consolida Productos y Categorías</a:t>
            </a:r>
          </a:p>
        </p:txBody>
      </p:sp>
    </p:spTree>
    <p:extLst>
      <p:ext uri="{BB962C8B-B14F-4D97-AF65-F5344CB8AC3E}">
        <p14:creationId xmlns:p14="http://schemas.microsoft.com/office/powerpoint/2010/main" val="26923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3186-CDD9-CE1F-B958-A1694F72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4DC1F32-4AE3-04FC-E1A1-FC720727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ETL SQL Server </a:t>
            </a:r>
            <a:r>
              <a:rPr lang="es-CL" dirty="0" err="1">
                <a:latin typeface="Overpass"/>
              </a:rPr>
              <a:t>Integration</a:t>
            </a:r>
            <a:r>
              <a:rPr lang="es-CL" dirty="0">
                <a:latin typeface="Overpass"/>
              </a:rPr>
              <a:t> </a:t>
            </a:r>
            <a:r>
              <a:rPr lang="es-CL" dirty="0" err="1">
                <a:latin typeface="Overpass"/>
              </a:rPr>
              <a:t>Services</a:t>
            </a:r>
            <a:r>
              <a:rPr lang="es-CL" dirty="0">
                <a:latin typeface="Overpass"/>
              </a:rPr>
              <a:t> (SSIS)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7EFB7F4-A7FA-66F3-1997-636DA403B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22" name="Imagen 21" descr="DIM_EMPLEADO&#10;&#10;El contenido generado por IA puede ser incorrecto.">
            <a:extLst>
              <a:ext uri="{FF2B5EF4-FFF2-40B4-BE49-F238E27FC236}">
                <a16:creationId xmlns:a16="http://schemas.microsoft.com/office/drawing/2014/main" id="{3FBA5D5F-4D07-1A87-F856-7BB3DD76D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2149026" cy="2453853"/>
          </a:xfrm>
          <a:prstGeom prst="rect">
            <a:avLst/>
          </a:prstGeom>
        </p:spPr>
      </p:pic>
      <p:pic>
        <p:nvPicPr>
          <p:cNvPr id="24" name="Imagen 23" descr="The diagram illustrates a data conversion process involving 10 filas (file rows) in a BikeZ Territorio (bike territory) system.&#10;&#10;El contenido generado por IA puede ser incorrecto.">
            <a:extLst>
              <a:ext uri="{FF2B5EF4-FFF2-40B4-BE49-F238E27FC236}">
                <a16:creationId xmlns:a16="http://schemas.microsoft.com/office/drawing/2014/main" id="{85AFC6AD-8B5F-B8C8-B741-CABDC112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142" y="1690689"/>
            <a:ext cx="2211373" cy="2358798"/>
          </a:xfrm>
          <a:prstGeom prst="rect">
            <a:avLst/>
          </a:prstGeom>
        </p:spPr>
      </p:pic>
      <p:pic>
        <p:nvPicPr>
          <p:cNvPr id="26" name="Imagen 25" descr="The diagram shows a flowchart with a section labeled 'CLIENTES' containing '19.820 filas', followed by a section labeled 'DIM_CLIENTE'.&#10;&#10;El contenido generado por IA puede ser incorrecto.">
            <a:extLst>
              <a:ext uri="{FF2B5EF4-FFF2-40B4-BE49-F238E27FC236}">
                <a16:creationId xmlns:a16="http://schemas.microsoft.com/office/drawing/2014/main" id="{43150E3D-ABFC-FCE2-B67B-2538058B6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1" y="1825625"/>
            <a:ext cx="2187130" cy="1806097"/>
          </a:xfrm>
          <a:prstGeom prst="rect">
            <a:avLst/>
          </a:prstGeom>
        </p:spPr>
      </p:pic>
      <p:pic>
        <p:nvPicPr>
          <p:cNvPr id="28" name="Imagen 27" descr="DIM_PRODUCTO&#10;&#10;El contenido generado por IA puede ser incorrecto.">
            <a:extLst>
              <a:ext uri="{FF2B5EF4-FFF2-40B4-BE49-F238E27FC236}">
                <a16:creationId xmlns:a16="http://schemas.microsoft.com/office/drawing/2014/main" id="{5C52BDE0-91CE-3396-DDD8-FADB1DAEA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616" y="1825625"/>
            <a:ext cx="2232536" cy="1806097"/>
          </a:xfrm>
          <a:prstGeom prst="rect">
            <a:avLst/>
          </a:prstGeom>
        </p:spPr>
      </p:pic>
      <p:pic>
        <p:nvPicPr>
          <p:cNvPr id="30" name="Imagen 29" descr="The diagram illustrates a flowchart or process map detailing the steps in a product and client lookup process for the brand Ventas, specifically for the model BikeZ.&#10;&#10;El contenido generado por IA puede ser incorrecto.">
            <a:extLst>
              <a:ext uri="{FF2B5EF4-FFF2-40B4-BE49-F238E27FC236}">
                <a16:creationId xmlns:a16="http://schemas.microsoft.com/office/drawing/2014/main" id="{F59F1AC1-43ED-B228-4C94-7149CEB2D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064" y="4338436"/>
            <a:ext cx="8306520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0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9860-C102-3172-0846-3DF61216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EA3443F-D1AA-AF05-15D6-BD3C4E73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Dimensiones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9FB702C-CFF2-E2CE-8531-34AD53E97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6" name="Imagen 5" descr="The image displays a table with columns for product codes, names, colors, and categories, showing various types of mechanical parts and their attributes.&#10;&#10;El contenido generado por IA puede ser incorrecto.">
            <a:extLst>
              <a:ext uri="{FF2B5EF4-FFF2-40B4-BE49-F238E27FC236}">
                <a16:creationId xmlns:a16="http://schemas.microsoft.com/office/drawing/2014/main" id="{CE2EE6F3-73CF-C599-A3F2-EFB8AEB26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28" y="2115346"/>
            <a:ext cx="4236947" cy="3307231"/>
          </a:xfrm>
          <a:prstGeom prst="rect">
            <a:avLst/>
          </a:prstGeom>
        </p:spPr>
      </p:pic>
      <p:pic>
        <p:nvPicPr>
          <p:cNvPr id="8" name="Imagen 7" descr="The image displays a database table with columns for 'Ei Messages' and 'DIM_CLIENTE' with rows containing client information, such as names and codes.&#10;&#10;El contenido generado por IA puede ser incorrecto.">
            <a:extLst>
              <a:ext uri="{FF2B5EF4-FFF2-40B4-BE49-F238E27FC236}">
                <a16:creationId xmlns:a16="http://schemas.microsoft.com/office/drawing/2014/main" id="{DA2E0272-57AF-B363-1AFB-559D06F61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382" y="1825625"/>
            <a:ext cx="2758679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70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0353-3CA4-CF21-30FA-AA373A2B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DF1F2D2-8ADE-2CBC-4E97-5D1DB835C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Dimensiones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8C62136-482F-6D96-83C0-748A605F2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3" name="Imagen 2" descr="The image displays a table or database query result showing employee records with fields like employee ID, name, role, birth date, gender, hire date, and number of holidays.&#10;&#10;El contenido generado por IA puede ser incorrecto.">
            <a:extLst>
              <a:ext uri="{FF2B5EF4-FFF2-40B4-BE49-F238E27FC236}">
                <a16:creationId xmlns:a16="http://schemas.microsoft.com/office/drawing/2014/main" id="{D5C10871-18A3-745E-3E93-2DFBD6C3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71" y="2042187"/>
            <a:ext cx="8283658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19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0368-0661-F7BE-CB28-118A01CE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1DC8212-00F3-3E6A-8878-052B616F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Dimensiones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E6C2476-B4AB-F4ED-E750-82CFD03C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6" name="Imagen 5" descr="The image displays a table listing various territories, countries, and their respective codes and names, including regions like Northwest, Northeast, and Central North America, as well as countries like Canada, France, and Germany.&#10;&#10;El contenido generado por IA puede ser incorrecto.">
            <a:extLst>
              <a:ext uri="{FF2B5EF4-FFF2-40B4-BE49-F238E27FC236}">
                <a16:creationId xmlns:a16="http://schemas.microsoft.com/office/drawing/2014/main" id="{6819A845-CDFF-E355-1D97-AC48AD982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821" y="2170419"/>
            <a:ext cx="5444239" cy="31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8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A438-90D1-1DEB-0756-204CB064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E3FB351-A374-A43B-3004-3AA75AFF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Overpass"/>
              </a:rPr>
              <a:t>Tabla de hechos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CBBBEFE-A26D-F452-2D5D-CCDB44A37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579" y="1825625"/>
            <a:ext cx="5306286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 </a:t>
            </a:r>
          </a:p>
        </p:txBody>
      </p:sp>
      <p:pic>
        <p:nvPicPr>
          <p:cNvPr id="3" name="Imagen 2" descr="This image displays a table with various product and transaction details, including sales information for different products sold over a specific period.&#10;&#10;El contenido generado por IA puede ser incorrecto.">
            <a:extLst>
              <a:ext uri="{FF2B5EF4-FFF2-40B4-BE49-F238E27FC236}">
                <a16:creationId xmlns:a16="http://schemas.microsoft.com/office/drawing/2014/main" id="{C4267603-4E07-003A-3557-BDF519DE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95279" cy="357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9839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115</Words>
  <Application>Microsoft Office PowerPoint</Application>
  <PresentationFormat>Panorámica</PresentationFormat>
  <Paragraphs>37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Overpass</vt:lpstr>
      <vt:lpstr>Aptos</vt:lpstr>
      <vt:lpstr>Aptos Display</vt:lpstr>
      <vt:lpstr>Arial</vt:lpstr>
      <vt:lpstr>Tema de Office</vt:lpstr>
      <vt:lpstr>Del Modelo Transaccional a la claridad analítica </vt:lpstr>
      <vt:lpstr>Inteligencia Guiada por el negocio: Objetivos Estratégicos </vt:lpstr>
      <vt:lpstr>Proceso de Negocio y Enfoque de Granularidad</vt:lpstr>
      <vt:lpstr> </vt:lpstr>
      <vt:lpstr>Modelo Dimensional</vt:lpstr>
      <vt:lpstr>ETL SQL Server Integration Services (SSIS)</vt:lpstr>
      <vt:lpstr>Dimensiones</vt:lpstr>
      <vt:lpstr>Dimensiones</vt:lpstr>
      <vt:lpstr>Dimensiones</vt:lpstr>
      <vt:lpstr>Tabla de hechos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BASTIÁN NICOLÁS ARAYA TAPIA</dc:creator>
  <cp:lastModifiedBy>BASTIÁN NICOLÁS ARAYA TAPIA</cp:lastModifiedBy>
  <cp:revision>1</cp:revision>
  <dcterms:created xsi:type="dcterms:W3CDTF">2026-10-16T00:48:23Z</dcterms:created>
  <dcterms:modified xsi:type="dcterms:W3CDTF">2026-10-16T02:32:38Z</dcterms:modified>
</cp:coreProperties>
</file>